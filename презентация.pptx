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1675"/>
  <p:notesSz cx="6858000" cy="9144000"/>
  <p:embeddedFontLst>
    <p:embeddedFont>
      <p:font typeface="Quattrocento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QuattrocentoSans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QuattrocentoSans-italic.fntdata"/><Relationship Id="rId6" Type="http://schemas.openxmlformats.org/officeDocument/2006/relationships/slide" Target="slides/slide1.xml"/><Relationship Id="rId18" Type="http://schemas.openxmlformats.org/officeDocument/2006/relationships/font" Target="fonts/Quattrocento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bbe802d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dbbe802d9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bbe802d9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dbbe802d90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bbe802d90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dbbe802d90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731520" y="1371600"/>
            <a:ext cx="1051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200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Персональный менеджер заметок с REST API</a:t>
            </a:r>
            <a:endParaRPr sz="3200"/>
          </a:p>
        </p:txBody>
      </p:sp>
      <p:sp>
        <p:nvSpPr>
          <p:cNvPr id="85" name="Google Shape;85;p13"/>
          <p:cNvSpPr/>
          <p:nvPr/>
        </p:nvSpPr>
        <p:spPr>
          <a:xfrm>
            <a:off x="731520" y="2440190"/>
            <a:ext cx="2057400" cy="549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2788920" y="2440190"/>
            <a:ext cx="2057400" cy="5490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31520" y="2690739"/>
            <a:ext cx="548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Python • Flask • PyJWT • SQLite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31520" y="48463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АВТОРЫ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31520" y="52120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Годилов Роман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31520" y="5577840"/>
            <a:ext cx="2743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Чибитов</a:t>
            </a:r>
            <a:r>
              <a:rPr b="1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Эмир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8686800" y="5212080"/>
            <a:ext cx="109728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Flask</a:t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9966960" y="5212080"/>
            <a:ext cx="1371600" cy="45720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REST API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8686800" y="5852160"/>
            <a:ext cx="137160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JWT Auth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/>
        </p:nvSpPr>
        <p:spPr>
          <a:xfrm>
            <a:off x="10789920" y="603504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1475720" y="630936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 07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789920" y="5989320"/>
            <a:ext cx="1280160" cy="9144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731520" y="4572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👤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828800" y="50292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Пользователи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828800" y="11430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Регистрация, аутентификация и безопасность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1828800" y="1691640"/>
            <a:ext cx="1371600" cy="36576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3200400" y="1691640"/>
            <a:ext cx="1371600" cy="36576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731520" y="2286000"/>
            <a:ext cx="5029200" cy="228600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1F293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731520" y="2286000"/>
            <a:ext cx="73152" cy="2286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1005840" y="24688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Аутентификация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097280" y="306324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Регистрация нового аккаунта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097280" y="342900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Вход в систему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1097280" y="379476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Выход из учётной записи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6400800" y="2286000"/>
            <a:ext cx="5029200" cy="228600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1F293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6400800" y="2286000"/>
            <a:ext cx="73152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6675120" y="24688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Безопасность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766560" y="306324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Хеширование паролей (bcrypt / SHA-256)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766560" y="342900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Приватные заметки — доступ только владельцу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766560" y="379476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Защита сессий через JWT токены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 txBox="1"/>
          <p:nvPr/>
        </p:nvSpPr>
        <p:spPr>
          <a:xfrm>
            <a:off x="10789920" y="603504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1475720" y="630936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 07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10789920" y="5989320"/>
            <a:ext cx="1280160" cy="9144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731520" y="4572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📝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828800" y="50292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Заметки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1828800" y="1143000"/>
            <a:ext cx="731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Полный функционал для заметок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1828800" y="1691640"/>
            <a:ext cx="1371600" cy="36576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3200400" y="1691640"/>
            <a:ext cx="1371600" cy="36576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731520" y="2286000"/>
            <a:ext cx="3474720" cy="201168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1F293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731520" y="2286000"/>
            <a:ext cx="73152" cy="201168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1005840" y="24688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Создание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1097280" y="3063240"/>
            <a:ext cx="29260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Заголовок заметки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1097280" y="3429000"/>
            <a:ext cx="29260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Текст заметки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1097280" y="3794760"/>
            <a:ext cx="29260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Категория, избранное, файл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4572000" y="2286000"/>
            <a:ext cx="3474720" cy="201168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1F293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4572000" y="2286000"/>
            <a:ext cx="73152" cy="201168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4846320" y="24688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Просмотр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4937760" y="3063240"/>
            <a:ext cx="29260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Список всех заметок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4937760" y="3429000"/>
            <a:ext cx="29260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Детальная страница заметки</a:t>
            </a:r>
            <a:endParaRPr/>
          </a:p>
        </p:txBody>
      </p:sp>
      <p:sp>
        <p:nvSpPr>
          <p:cNvPr id="141" name="Google Shape;141;p15"/>
          <p:cNvSpPr/>
          <p:nvPr/>
        </p:nvSpPr>
        <p:spPr>
          <a:xfrm>
            <a:off x="8412480" y="2286000"/>
            <a:ext cx="3474720" cy="201168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1F293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8412480" y="2286000"/>
            <a:ext cx="73152" cy="201168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8686800" y="24688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Управление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8778240" y="3063240"/>
            <a:ext cx="29260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Редактирование заметки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8778240" y="3429000"/>
            <a:ext cx="29260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Удаление с подтверждением</a:t>
            </a:r>
            <a:endParaRPr/>
          </a:p>
        </p:txBody>
      </p:sp>
      <p:sp>
        <p:nvSpPr>
          <p:cNvPr id="146" name="Google Shape;146;p15"/>
          <p:cNvSpPr/>
          <p:nvPr/>
        </p:nvSpPr>
        <p:spPr>
          <a:xfrm>
            <a:off x="731520" y="4572000"/>
            <a:ext cx="10972800" cy="164592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1F293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731520" y="4572000"/>
            <a:ext cx="73152" cy="164592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1005840" y="47548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Дополнительно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1097280" y="5349240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Избранное — быстрый доступ к важным заметкам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1097280" y="5715000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Сортировка по дате создания / изменения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701" y="244687"/>
            <a:ext cx="10500274" cy="636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/>
        </p:nvSpPr>
        <p:spPr>
          <a:xfrm>
            <a:off x="10789920" y="603504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11475720" y="630936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 07</a:t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10789920" y="5989320"/>
            <a:ext cx="1280160" cy="9144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731520" y="4572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🏷️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1828800" y="50292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Категории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1828800" y="11430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Организация заметок по темам</a:t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1828800" y="1691640"/>
            <a:ext cx="1371600" cy="36576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3200400" y="1691640"/>
            <a:ext cx="1371600" cy="36576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731520" y="2286000"/>
            <a:ext cx="5029200" cy="164592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1F293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1005840" y="246888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💼 Работа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1005840" y="310896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Рабочие проекты, задачи, встречи</a:t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822960" y="2606040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6400800" y="2286000"/>
            <a:ext cx="5029200" cy="164592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1F293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6675120" y="246888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🎓 Учёба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6675120" y="310896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Конспекты, лекции, расписание</a:t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6492240" y="2606040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731520" y="4297680"/>
            <a:ext cx="5029200" cy="164592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1F293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1005840" y="448056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👤 Личное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1005840" y="51206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Дневник, цели, идеи</a:t>
            </a: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822960" y="4617720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6400800" y="4297680"/>
            <a:ext cx="5029200" cy="164592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1F293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 txBox="1"/>
          <p:nvPr/>
        </p:nvSpPr>
        <p:spPr>
          <a:xfrm>
            <a:off x="6675120" y="448056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📌 Заметки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6675120" y="51206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Общие заметки без категории</a:t>
            </a:r>
            <a:endParaRPr/>
          </a:p>
        </p:txBody>
      </p:sp>
      <p:sp>
        <p:nvSpPr>
          <p:cNvPr id="183" name="Google Shape;183;p17"/>
          <p:cNvSpPr/>
          <p:nvPr/>
        </p:nvSpPr>
        <p:spPr>
          <a:xfrm>
            <a:off x="6492240" y="4617720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051" y="377300"/>
            <a:ext cx="10585574" cy="610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 txBox="1"/>
          <p:nvPr/>
        </p:nvSpPr>
        <p:spPr>
          <a:xfrm>
            <a:off x="10789920" y="603504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11475720" y="630936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 07</a:t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10789920" y="5989320"/>
            <a:ext cx="1280160" cy="9144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731520" y="4572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🔍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1828800" y="50292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Фильтрация и поиск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1828800" y="11430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Быстрый доступ к нужным заметкам</a:t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1828800" y="1691640"/>
            <a:ext cx="1371600" cy="36576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3200400" y="1691640"/>
            <a:ext cx="1371600" cy="36576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731520" y="2286000"/>
            <a:ext cx="5029200" cy="274320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1F293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731520" y="2286000"/>
            <a:ext cx="73152" cy="27432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1005840" y="24688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Поиск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1097280" y="306324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Поиск по заголовку заметки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1097280" y="342900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Полнотекстовый поиск по содержимому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1097280" y="379476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Мгновенные результаты (real-time)</a:t>
            </a: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6400800" y="2286000"/>
            <a:ext cx="5029200" cy="274320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1F293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6400800" y="2286000"/>
            <a:ext cx="73152" cy="274320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6675120" y="24688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Фильтры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6766560" y="306324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Фильтр по категориям (Работа, Учёба...)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6766560" y="342900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Фильтр «Только избранное»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6766560" y="379476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Комбинирование фильтров и поиска</a:t>
            </a:r>
            <a:endParaRPr/>
          </a:p>
        </p:txBody>
      </p:sp>
      <p:sp>
        <p:nvSpPr>
          <p:cNvPr id="213" name="Google Shape;213;p19"/>
          <p:cNvSpPr/>
          <p:nvPr/>
        </p:nvSpPr>
        <p:spPr>
          <a:xfrm>
            <a:off x="731520" y="5394960"/>
            <a:ext cx="4572000" cy="54864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🔍 Поиск + 🏷️ Категории + ⭐ Избранное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699" y="325725"/>
            <a:ext cx="11224277" cy="620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1"/>
          <p:cNvSpPr txBox="1"/>
          <p:nvPr/>
        </p:nvSpPr>
        <p:spPr>
          <a:xfrm>
            <a:off x="10789920" y="603504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11475720" y="630936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 07</a:t>
            </a: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10789920" y="5989320"/>
            <a:ext cx="1280160" cy="9144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731520" y="4572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📎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1828800" y="50292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Файлы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1828800" y="11430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Прикрепление и управление файлами</a:t>
            </a:r>
            <a:endParaRPr/>
          </a:p>
        </p:txBody>
      </p:sp>
      <p:sp>
        <p:nvSpPr>
          <p:cNvPr id="229" name="Google Shape;229;p21"/>
          <p:cNvSpPr/>
          <p:nvPr/>
        </p:nvSpPr>
        <p:spPr>
          <a:xfrm>
            <a:off x="1828800" y="1691640"/>
            <a:ext cx="1371600" cy="36576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3200400" y="1691640"/>
            <a:ext cx="1371600" cy="36576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731520" y="2286000"/>
            <a:ext cx="5029200" cy="274320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1F293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731520" y="2286000"/>
            <a:ext cx="73152" cy="27432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1005840" y="24688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Поддерживаемые форматы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1097280" y="306324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📄 Документы: TXT, PDF, DOCX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1097280" y="342900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🖼️ Изображения: JPG, JPEG, PNG, WEBP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1097280" y="379476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📏 Максимальный размер: 10 МБ</a:t>
            </a:r>
            <a:endParaRPr/>
          </a:p>
        </p:txBody>
      </p:sp>
      <p:sp>
        <p:nvSpPr>
          <p:cNvPr id="237" name="Google Shape;237;p21"/>
          <p:cNvSpPr/>
          <p:nvPr/>
        </p:nvSpPr>
        <p:spPr>
          <a:xfrm>
            <a:off x="6400800" y="2286000"/>
            <a:ext cx="5029200" cy="274320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1F293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6400800" y="2286000"/>
            <a:ext cx="73152" cy="274320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6675120" y="24688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Управление файлами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6766560" y="306324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Замена файла у существующей заметки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6766560" y="342900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Автоматическое удаление старого файла при замене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6766560" y="379476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Автоматическое удаление файла при удалении заметки</a:t>
            </a:r>
            <a:endParaRPr/>
          </a:p>
        </p:txBody>
      </p:sp>
      <p:sp>
        <p:nvSpPr>
          <p:cNvPr id="243" name="Google Shape;243;p21"/>
          <p:cNvSpPr/>
          <p:nvPr/>
        </p:nvSpPr>
        <p:spPr>
          <a:xfrm>
            <a:off x="731520" y="5394960"/>
            <a:ext cx="109728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📎 txt</a:t>
            </a:r>
            <a:endParaRPr/>
          </a:p>
        </p:txBody>
      </p:sp>
      <p:sp>
        <p:nvSpPr>
          <p:cNvPr id="244" name="Google Shape;244;p21"/>
          <p:cNvSpPr/>
          <p:nvPr/>
        </p:nvSpPr>
        <p:spPr>
          <a:xfrm>
            <a:off x="2011680" y="5394960"/>
            <a:ext cx="109728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📎 pdf</a:t>
            </a:r>
            <a:endParaRPr/>
          </a:p>
        </p:txBody>
      </p:sp>
      <p:sp>
        <p:nvSpPr>
          <p:cNvPr id="245" name="Google Shape;245;p21"/>
          <p:cNvSpPr/>
          <p:nvPr/>
        </p:nvSpPr>
        <p:spPr>
          <a:xfrm>
            <a:off x="3291840" y="5394960"/>
            <a:ext cx="109728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📎 docx</a:t>
            </a:r>
            <a:endParaRPr/>
          </a:p>
        </p:txBody>
      </p:sp>
      <p:sp>
        <p:nvSpPr>
          <p:cNvPr id="246" name="Google Shape;246;p21"/>
          <p:cNvSpPr/>
          <p:nvPr/>
        </p:nvSpPr>
        <p:spPr>
          <a:xfrm>
            <a:off x="4572000" y="5394960"/>
            <a:ext cx="10972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🖼️ jpg</a:t>
            </a:r>
            <a:endParaRPr/>
          </a:p>
        </p:txBody>
      </p:sp>
      <p:sp>
        <p:nvSpPr>
          <p:cNvPr id="247" name="Google Shape;247;p21"/>
          <p:cNvSpPr/>
          <p:nvPr/>
        </p:nvSpPr>
        <p:spPr>
          <a:xfrm>
            <a:off x="5852160" y="5394960"/>
            <a:ext cx="10972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🖼️ png</a:t>
            </a:r>
            <a:endParaRPr/>
          </a:p>
        </p:txBody>
      </p:sp>
      <p:sp>
        <p:nvSpPr>
          <p:cNvPr id="248" name="Google Shape;248;p21"/>
          <p:cNvSpPr/>
          <p:nvPr/>
        </p:nvSpPr>
        <p:spPr>
          <a:xfrm>
            <a:off x="7132320" y="5394960"/>
            <a:ext cx="10972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🖼️ webp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"/>
          <p:cNvSpPr txBox="1"/>
          <p:nvPr/>
        </p:nvSpPr>
        <p:spPr>
          <a:xfrm>
            <a:off x="10789920" y="603504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11475720" y="630936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 07</a:t>
            </a:r>
            <a:endParaRPr/>
          </a:p>
        </p:txBody>
      </p:sp>
      <p:sp>
        <p:nvSpPr>
          <p:cNvPr id="255" name="Google Shape;255;p22"/>
          <p:cNvSpPr/>
          <p:nvPr/>
        </p:nvSpPr>
        <p:spPr>
          <a:xfrm>
            <a:off x="10789920" y="5989320"/>
            <a:ext cx="1280160" cy="9144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 txBox="1"/>
          <p:nvPr/>
        </p:nvSpPr>
        <p:spPr>
          <a:xfrm>
            <a:off x="731520" y="4572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📤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1828800" y="50292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Экспорт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1828800" y="11430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Выгрузка заметок в файлы</a:t>
            </a:r>
            <a:endParaRPr/>
          </a:p>
        </p:txBody>
      </p:sp>
      <p:sp>
        <p:nvSpPr>
          <p:cNvPr id="259" name="Google Shape;259;p22"/>
          <p:cNvSpPr/>
          <p:nvPr/>
        </p:nvSpPr>
        <p:spPr>
          <a:xfrm>
            <a:off x="1828800" y="1691640"/>
            <a:ext cx="1371600" cy="36576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3200400" y="1691640"/>
            <a:ext cx="1371600" cy="36576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731520" y="2286000"/>
            <a:ext cx="5029200" cy="274320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1F293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731520" y="2286000"/>
            <a:ext cx="73152" cy="27432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1005840" y="24688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Формат TXT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1097280" y="306324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Простой текстовый формат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1097280" y="342900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Экспорт заголовка и текста заметки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1097280" y="379476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Удобно для печати и чтения</a:t>
            </a:r>
            <a:endParaRPr/>
          </a:p>
        </p:txBody>
      </p:sp>
      <p:sp>
        <p:nvSpPr>
          <p:cNvPr id="267" name="Google Shape;267;p22"/>
          <p:cNvSpPr/>
          <p:nvPr/>
        </p:nvSpPr>
        <p:spPr>
          <a:xfrm>
            <a:off x="6400800" y="2286000"/>
            <a:ext cx="5029200" cy="274320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1F293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6400800" y="2286000"/>
            <a:ext cx="73152" cy="27432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 txBox="1"/>
          <p:nvPr/>
        </p:nvSpPr>
        <p:spPr>
          <a:xfrm>
            <a:off x="6675120" y="24688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Формат CSV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6766560" y="306324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Табличный формат (Excel, Google Sheets)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6766560" y="342900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Экспорт всех полей: заголовок, текст, категория, дата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6766560" y="379476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Удобно для анализа и импорта</a:t>
            </a:r>
            <a:endParaRPr/>
          </a:p>
        </p:txBody>
      </p:sp>
      <p:sp>
        <p:nvSpPr>
          <p:cNvPr id="273" name="Google Shape;273;p22"/>
          <p:cNvSpPr/>
          <p:nvPr/>
        </p:nvSpPr>
        <p:spPr>
          <a:xfrm>
            <a:off x="1828800" y="5394960"/>
            <a:ext cx="1828800" cy="5486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📄 TXT Export</a:t>
            </a:r>
            <a:endParaRPr/>
          </a:p>
        </p:txBody>
      </p:sp>
      <p:sp>
        <p:nvSpPr>
          <p:cNvPr id="274" name="Google Shape;274;p22"/>
          <p:cNvSpPr/>
          <p:nvPr/>
        </p:nvSpPr>
        <p:spPr>
          <a:xfrm>
            <a:off x="4114800" y="5394960"/>
            <a:ext cx="1828800" cy="54864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📊 CSV Export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3"/>
          <p:cNvSpPr txBox="1"/>
          <p:nvPr/>
        </p:nvSpPr>
        <p:spPr>
          <a:xfrm>
            <a:off x="10835789" y="6080987"/>
            <a:ext cx="879600" cy="7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3950" lIns="87925" spcFirstLastPara="1" rIns="87925" wrap="square" tIns="439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17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07</a:t>
            </a:r>
            <a:endParaRPr sz="1347"/>
          </a:p>
        </p:txBody>
      </p:sp>
      <p:sp>
        <p:nvSpPr>
          <p:cNvPr id="280" name="Google Shape;280;p23"/>
          <p:cNvSpPr txBox="1"/>
          <p:nvPr/>
        </p:nvSpPr>
        <p:spPr>
          <a:xfrm>
            <a:off x="11491533" y="6326835"/>
            <a:ext cx="548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 07</a:t>
            </a:r>
            <a:endParaRPr/>
          </a:p>
        </p:txBody>
      </p:sp>
      <p:sp>
        <p:nvSpPr>
          <p:cNvPr id="281" name="Google Shape;281;p23"/>
          <p:cNvSpPr/>
          <p:nvPr/>
        </p:nvSpPr>
        <p:spPr>
          <a:xfrm>
            <a:off x="11037439" y="6026962"/>
            <a:ext cx="1231200" cy="87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8474" rotWithShape="0" dir="5400000" dist="22122">
              <a:srgbClr val="000000">
                <a:alpha val="34901"/>
              </a:srgbClr>
            </a:outerShdw>
          </a:effectLst>
        </p:spPr>
        <p:txBody>
          <a:bodyPr anchorCtr="0" anchor="ctr" bIns="43950" lIns="87925" spcFirstLastPara="1" rIns="87925" wrap="square" tIns="43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 txBox="1"/>
          <p:nvPr/>
        </p:nvSpPr>
        <p:spPr>
          <a:xfrm>
            <a:off x="731520" y="4572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🌐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1828800" y="50292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REST API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1828800" y="11430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Программный доступ к заметкам через JWT</a:t>
            </a:r>
            <a:endParaRPr/>
          </a:p>
        </p:txBody>
      </p:sp>
      <p:sp>
        <p:nvSpPr>
          <p:cNvPr id="285" name="Google Shape;285;p23"/>
          <p:cNvSpPr/>
          <p:nvPr/>
        </p:nvSpPr>
        <p:spPr>
          <a:xfrm>
            <a:off x="1828800" y="1691640"/>
            <a:ext cx="1371600" cy="36576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3"/>
          <p:cNvSpPr/>
          <p:nvPr/>
        </p:nvSpPr>
        <p:spPr>
          <a:xfrm>
            <a:off x="3200400" y="1691640"/>
            <a:ext cx="1371600" cy="36576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3"/>
          <p:cNvSpPr/>
          <p:nvPr/>
        </p:nvSpPr>
        <p:spPr>
          <a:xfrm>
            <a:off x="490675" y="1819675"/>
            <a:ext cx="5252700" cy="3056100"/>
          </a:xfrm>
          <a:prstGeom prst="rect">
            <a:avLst/>
          </a:prstGeom>
          <a:solidFill>
            <a:srgbClr val="161B22"/>
          </a:solidFill>
          <a:ln cap="flat" cmpd="sng" w="9925">
            <a:solidFill>
              <a:srgbClr val="1F2934"/>
            </a:solidFill>
            <a:prstDash val="solid"/>
            <a:round/>
            <a:headEnd len="sm" w="sm" type="none"/>
            <a:tailEnd len="sm" w="sm" type="none"/>
          </a:ln>
          <a:effectLst>
            <a:outerShdw blurRad="41779" rotWithShape="0" dir="5400000" dist="24023">
              <a:srgbClr val="000000">
                <a:alpha val="34901"/>
              </a:srgbClr>
            </a:outerShdw>
          </a:effectLst>
        </p:spPr>
        <p:txBody>
          <a:bodyPr anchorCtr="0" anchor="ctr" bIns="47725" lIns="95475" spcFirstLastPara="1" rIns="95475" wrap="square" tIns="47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3"/>
          <p:cNvSpPr/>
          <p:nvPr/>
        </p:nvSpPr>
        <p:spPr>
          <a:xfrm>
            <a:off x="490675" y="1819675"/>
            <a:ext cx="76500" cy="305610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1779" rotWithShape="0" dir="5400000" dist="24023">
              <a:srgbClr val="000000">
                <a:alpha val="34901"/>
              </a:srgbClr>
            </a:outerShdw>
          </a:effectLst>
        </p:spPr>
        <p:txBody>
          <a:bodyPr anchorCtr="0" anchor="ctr" bIns="47725" lIns="95475" spcFirstLastPara="1" rIns="95475" wrap="square" tIns="47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3"/>
          <p:cNvSpPr txBox="1"/>
          <p:nvPr/>
        </p:nvSpPr>
        <p:spPr>
          <a:xfrm>
            <a:off x="777197" y="2010690"/>
            <a:ext cx="47751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7725" lIns="95475" spcFirstLastPara="1" rIns="95475" wrap="square" tIns="477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8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Аутентификация API</a:t>
            </a:r>
            <a:endParaRPr sz="1462"/>
          </a:p>
        </p:txBody>
      </p:sp>
      <p:sp>
        <p:nvSpPr>
          <p:cNvPr id="290" name="Google Shape;290;p23"/>
          <p:cNvSpPr txBox="1"/>
          <p:nvPr/>
        </p:nvSpPr>
        <p:spPr>
          <a:xfrm>
            <a:off x="872705" y="2631489"/>
            <a:ext cx="46797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725" lIns="95475" spcFirstLastPara="1" rIns="95475" wrap="square" tIns="477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62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Регистрация через API (POST /register)</a:t>
            </a:r>
            <a:endParaRPr sz="1462"/>
          </a:p>
        </p:txBody>
      </p:sp>
      <p:sp>
        <p:nvSpPr>
          <p:cNvPr id="291" name="Google Shape;291;p23"/>
          <p:cNvSpPr txBox="1"/>
          <p:nvPr/>
        </p:nvSpPr>
        <p:spPr>
          <a:xfrm>
            <a:off x="872705" y="3013519"/>
            <a:ext cx="46797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725" lIns="95475" spcFirstLastPara="1" rIns="95475" wrap="square" tIns="477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62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Логин — получение JWT токена (POST /login)</a:t>
            </a:r>
            <a:endParaRPr sz="1462"/>
          </a:p>
        </p:txBody>
      </p:sp>
      <p:sp>
        <p:nvSpPr>
          <p:cNvPr id="292" name="Google Shape;292;p23"/>
          <p:cNvSpPr txBox="1"/>
          <p:nvPr/>
        </p:nvSpPr>
        <p:spPr>
          <a:xfrm>
            <a:off x="872705" y="3395549"/>
            <a:ext cx="46797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725" lIns="95475" spcFirstLastPara="1" rIns="95475" wrap="square" tIns="477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62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Все запросы защищены токеном</a:t>
            </a:r>
            <a:endParaRPr sz="1462"/>
          </a:p>
        </p:txBody>
      </p:sp>
      <p:sp>
        <p:nvSpPr>
          <p:cNvPr id="293" name="Google Shape;293;p23"/>
          <p:cNvSpPr/>
          <p:nvPr/>
        </p:nvSpPr>
        <p:spPr>
          <a:xfrm>
            <a:off x="6412140" y="1819675"/>
            <a:ext cx="5252700" cy="3056100"/>
          </a:xfrm>
          <a:prstGeom prst="rect">
            <a:avLst/>
          </a:prstGeom>
          <a:solidFill>
            <a:srgbClr val="161B22"/>
          </a:solidFill>
          <a:ln cap="flat" cmpd="sng" w="9925">
            <a:solidFill>
              <a:srgbClr val="1F2934"/>
            </a:solidFill>
            <a:prstDash val="solid"/>
            <a:round/>
            <a:headEnd len="sm" w="sm" type="none"/>
            <a:tailEnd len="sm" w="sm" type="none"/>
          </a:ln>
          <a:effectLst>
            <a:outerShdw blurRad="41779" rotWithShape="0" dir="5400000" dist="24023">
              <a:srgbClr val="000000">
                <a:alpha val="34901"/>
              </a:srgbClr>
            </a:outerShdw>
          </a:effectLst>
        </p:spPr>
        <p:txBody>
          <a:bodyPr anchorCtr="0" anchor="ctr" bIns="47725" lIns="95475" spcFirstLastPara="1" rIns="95475" wrap="square" tIns="47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3"/>
          <p:cNvSpPr/>
          <p:nvPr/>
        </p:nvSpPr>
        <p:spPr>
          <a:xfrm>
            <a:off x="6412140" y="1819675"/>
            <a:ext cx="76500" cy="3056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1779" rotWithShape="0" dir="5400000" dist="24023">
              <a:srgbClr val="000000">
                <a:alpha val="34901"/>
              </a:srgbClr>
            </a:outerShdw>
          </a:effectLst>
        </p:spPr>
        <p:txBody>
          <a:bodyPr anchorCtr="0" anchor="ctr" bIns="47725" lIns="95475" spcFirstLastPara="1" rIns="95475" wrap="square" tIns="47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3"/>
          <p:cNvSpPr txBox="1"/>
          <p:nvPr/>
        </p:nvSpPr>
        <p:spPr>
          <a:xfrm>
            <a:off x="6698662" y="2010690"/>
            <a:ext cx="47751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7725" lIns="95475" spcFirstLastPara="1" rIns="95475" wrap="square" tIns="477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8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Эндпоинты заметок</a:t>
            </a:r>
            <a:endParaRPr sz="1462"/>
          </a:p>
        </p:txBody>
      </p:sp>
      <p:sp>
        <p:nvSpPr>
          <p:cNvPr id="296" name="Google Shape;296;p23"/>
          <p:cNvSpPr txBox="1"/>
          <p:nvPr/>
        </p:nvSpPr>
        <p:spPr>
          <a:xfrm>
            <a:off x="6794170" y="2631489"/>
            <a:ext cx="46797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725" lIns="95475" spcFirstLastPara="1" rIns="95475" wrap="square" tIns="477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62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GET /notes — список заметок</a:t>
            </a:r>
            <a:endParaRPr sz="1462"/>
          </a:p>
        </p:txBody>
      </p:sp>
      <p:sp>
        <p:nvSpPr>
          <p:cNvPr id="297" name="Google Shape;297;p23"/>
          <p:cNvSpPr txBox="1"/>
          <p:nvPr/>
        </p:nvSpPr>
        <p:spPr>
          <a:xfrm>
            <a:off x="6794170" y="3013519"/>
            <a:ext cx="46797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725" lIns="95475" spcFirstLastPara="1" rIns="95475" wrap="square" tIns="477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62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POST /notes — создать заметку</a:t>
            </a:r>
            <a:endParaRPr sz="1462"/>
          </a:p>
        </p:txBody>
      </p:sp>
      <p:sp>
        <p:nvSpPr>
          <p:cNvPr id="298" name="Google Shape;298;p23"/>
          <p:cNvSpPr txBox="1"/>
          <p:nvPr/>
        </p:nvSpPr>
        <p:spPr>
          <a:xfrm>
            <a:off x="6794170" y="3395549"/>
            <a:ext cx="46797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725" lIns="95475" spcFirstLastPara="1" rIns="95475" wrap="square" tIns="477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62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PUT /notes/{id} — обновить</a:t>
            </a:r>
            <a:endParaRPr sz="1462"/>
          </a:p>
        </p:txBody>
      </p:sp>
      <p:sp>
        <p:nvSpPr>
          <p:cNvPr id="299" name="Google Shape;299;p23"/>
          <p:cNvSpPr txBox="1"/>
          <p:nvPr/>
        </p:nvSpPr>
        <p:spPr>
          <a:xfrm>
            <a:off x="6794170" y="3777579"/>
            <a:ext cx="46797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725" lIns="95475" spcFirstLastPara="1" rIns="95475" wrap="square" tIns="477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62" u="none" cap="none" strike="noStrike">
                <a:solidFill>
                  <a:srgbClr val="9CA3A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DELETE /notes/{id} — удалить</a:t>
            </a:r>
            <a:endParaRPr sz="1462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